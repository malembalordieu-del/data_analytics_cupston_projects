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Unemployment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8F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Female</c:v>
                  </c:pt>
                  <c:pt idx="1">
                    <c:v>Male</c:v>
                  </c:pt>
                  <c:pt idx="2">
                    <c:v>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39.5</c:v>
                </c:pt>
                <c:pt idx="2">
                  <c:v>41.2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Unemployment Rate %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Primary</c:v>
                  </c:pt>
                  <c:pt idx="1">
                    <c:v>College</c:v>
                  </c:pt>
                  <c:pt idx="2">
                    <c:v>TVET</c:v>
                  </c:pt>
                  <c:pt idx="3">
                    <c:v>Secondary</c:v>
                  </c:pt>
                  <c:pt idx="4">
                    <c:v>University</c:v>
                  </c:pt>
                  <c:pt idx="5">
                    <c:v>Unknown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51</c:v>
                </c:pt>
                <c:pt idx="2">
                  <c:v>48</c:v>
                </c:pt>
                <c:pt idx="3">
                  <c:v>44</c:v>
                </c:pt>
                <c:pt idx="4">
                  <c:v>41</c:v>
                </c:pt>
                <c:pt idx="5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8F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8F7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8F7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Limited Education</c:v>
                  </c:pt>
                  <c:pt idx="1">
                    <c:v>No Work Permit</c:v>
                  </c:pt>
                  <c:pt idx="2">
                    <c:v>Movement Restriction</c:v>
                  </c:pt>
                  <c:pt idx="3">
                    <c:v>Lack of Capital</c:v>
                  </c:pt>
                  <c:pt idx="4">
                    <c:v>Discrimination</c:v>
                  </c:pt>
                  <c:pt idx="5">
                    <c:v>Low Market Demand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1350</c:v>
                </c:pt>
                <c:pt idx="2">
                  <c:v>1200</c:v>
                </c:pt>
                <c:pt idx="3">
                  <c:v>980</c:v>
                </c:pt>
                <c:pt idx="4">
                  <c:v>870</c:v>
                </c:pt>
                <c:pt idx="5">
                  <c:v>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 (KES)</c:v>
                </c:pt>
              </c:strCache>
            </c:strRef>
          </c:tx>
          <c:spPr>
            <a:solidFill>
              <a:srgbClr val="148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University</c:v>
                  </c:pt>
                  <c:pt idx="1">
                    <c:v>College</c:v>
                  </c:pt>
                  <c:pt idx="2">
                    <c:v>TVET</c:v>
                  </c:pt>
                  <c:pt idx="3">
                    <c:v>Secondary</c:v>
                  </c:pt>
                  <c:pt idx="4">
                    <c:v>Primary</c:v>
                  </c:pt>
                  <c:pt idx="5">
                    <c:v>Unknown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13200</c:v>
                </c:pt>
                <c:pt idx="1">
                  <c:v>10800</c:v>
                </c:pt>
                <c:pt idx="2">
                  <c:v>9100</c:v>
                </c:pt>
                <c:pt idx="3">
                  <c:v>8200</c:v>
                </c:pt>
                <c:pt idx="4">
                  <c:v>6400</c:v>
                </c:pt>
                <c:pt idx="5">
                  <c:v>4800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 (KES)</c:v>
                </c:pt>
              </c:strCache>
            </c:strRef>
          </c:tx>
          <c:spPr>
            <a:solidFill>
              <a:srgbClr val="148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8F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 Training</c:v>
                  </c:pt>
                  <c:pt idx="1">
                    <c:v>Without Training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11400</c:v>
                </c:pt>
                <c:pt idx="1">
                  <c:v>7900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7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148F7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Participating (70.63%)</c:v>
                </c:pt>
                <c:pt idx="1">
                  <c:v>Participating (29.37%)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70.63</c:v>
                </c:pt>
                <c:pt idx="1">
                  <c:v>29.37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17D7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7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Microfinance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148F7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Access (75.6%)</c:v>
                </c:pt>
                <c:pt idx="1">
                  <c:v>Has Access (24.4%)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75.6</c:v>
                </c:pt>
                <c:pt idx="1">
                  <c:v>24.4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17D7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KAKUMA REFUGEE CAMP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Exclusion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Youth Unemployment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for Stakeholders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4114800"/>
            <a:ext cx="2011680" cy="77724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87752" y="4114800"/>
            <a:ext cx="201168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87752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64024" y="4114800"/>
            <a:ext cx="2011680" cy="77724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9,640 KES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4024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4114800"/>
            <a:ext cx="2011680" cy="777240"/>
          </a:xfrm>
          <a:prstGeom prst="rect">
            <a:avLst/>
          </a:prstGeom>
          <a:solidFill>
            <a:srgbClr val="148F77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0296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70.63%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0296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NGO Programs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unemployment &amp; who is most affected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0292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Findings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unemployment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584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9867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barriers driving economic exclusion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914400"/>
            <a:ext cx="502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9144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1024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Income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4264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education and training shape income outcomes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1945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194560"/>
            <a:ext cx="50292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945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304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Access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270662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and microfinance gaps in coverage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474720"/>
            <a:ext cx="50292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747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3584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98678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data-driven solutions for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Exclusion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Kakuma Camp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Kakuma Refugee Camp faces persistent economic exclusion among youth and women — despite ongoing NGO interventions, structural barriers prevent meaningful income generation and self-reliance.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154680"/>
            <a:ext cx="14173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39136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3154680"/>
            <a:ext cx="1417320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84248" y="39136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7016" y="3154680"/>
            <a:ext cx="1417320" cy="169164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57016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57016" y="39136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NGOs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457200"/>
            <a:ext cx="3200400" cy="43891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548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325880"/>
            <a:ext cx="26517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325880"/>
            <a:ext cx="16459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71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44768" y="1801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468880"/>
            <a:ext cx="26517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48F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2468880"/>
            <a:ext cx="164592" cy="96012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514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38.91%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44768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3611880"/>
            <a:ext cx="26517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3611880"/>
            <a:ext cx="164592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44768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FINDINGS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by Gender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566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face the highest unemployment at 46% — 4pts above average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 by Education Level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14300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3566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education holders face the highest unemployment rates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0" y="411480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41.46%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7432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(18–35)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51460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1460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Age Group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5488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40.79%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5488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Vocational Training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9951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9,640 KES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9951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 —  TOP EMPLOYMENT BARRIERS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86868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868680"/>
            <a:ext cx="5029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868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Barrier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652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Education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4652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cited barrier — education pathways must be expanded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228600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97880" y="2286000"/>
            <a:ext cx="502920" cy="123444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28600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Barrier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465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Permit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Legal/policy reform needed for work authorization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70332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3703320"/>
            <a:ext cx="502920" cy="123444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70332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Barrier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465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Restriction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 required to ease movement constraints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barriers are structural — they require policy reform and institutional action, not individual effort alone.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TRAINING &amp; INCOME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 by Education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04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With vs Without Vocational Training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577840" y="1143000"/>
          <a:ext cx="3383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886200"/>
            <a:ext cx="4114800" cy="100584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graduates earn 2.75x more than Primary graduates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= significantly higher income — invest in education pathways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00600" y="3886200"/>
            <a:ext cx="41148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adds ~3,500 KES/month in average income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40.79% have completed training — major coverage gap must be addressed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PROGRAMS &amp; MICROFINANCE — COVERAGE GAPS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Program Participation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 Access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1887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0" y="4251960"/>
            <a:ext cx="91440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2793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GAP: 7 in 10 residents are not reached by any NGO program  |  3 in 4 have no microfinance access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—  WHAT NEEDS TO HAPPEN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02920" cy="118872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Vocational 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624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programs from 40.79% to 70%+ coverage — prioritize women &amp; 25–35 group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82312" y="8686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868680"/>
            <a:ext cx="50292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76672" y="960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Microfinance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3624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 have no access — launch targeted grants &amp; microloans for unemployed women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0280"/>
            <a:ext cx="50292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40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for Work Permits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340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Permit is the #2 barrier — push for legal reform with UNHCR &amp; government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82312" y="22402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240280"/>
            <a:ext cx="502920" cy="1188720"/>
          </a:xfrm>
          <a:prstGeom prst="rect">
            <a:avLst/>
          </a:prstGeom>
          <a:solidFill>
            <a:srgbClr val="7D3C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240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23317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NGO Outreach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27340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29.37% reached — redesign programs to cover the remaining 70.63%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50292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Gender-Responsive Programs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056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unemployment at 46% — create women-specific employment pathways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82312" y="3611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611880"/>
            <a:ext cx="502920" cy="118872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703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Education Access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41056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education group has highest unemployment — expand formal education routes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148F77">
              <a:alpha val="12000"/>
            </a:srgbClr>
          </a:solidFill>
          <a:ln w="12700">
            <a:solidFill>
              <a:srgbClr val="148F7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shows the way.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must act.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in Kakuma is high — but the drivers are known and the solutions are clear. Vocational training works. Microfinance access works. NGO program coverage must be scaled urgently.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749040"/>
            <a:ext cx="26060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407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Partners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3749040"/>
            <a:ext cx="260604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Policy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407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UNHCR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749040"/>
            <a:ext cx="260604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3794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4407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Kakuma Youth Unemployment — Stakeholder Presentation</dc:title>
  <dc:subject>PptxGenJS Presentation</dc:subject>
  <dc:creator>PptxGenJS</dc:creator>
  <cp:lastModifiedBy>PptxGenJS</cp:lastModifiedBy>
  <cp:revision>1</cp:revision>
  <dcterms:created xsi:type="dcterms:W3CDTF">2026-02-27T06:54:33Z</dcterms:created>
  <dcterms:modified xsi:type="dcterms:W3CDTF">2026-02-27T06:54:33Z</dcterms:modified>
</cp:coreProperties>
</file>